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RAG 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11612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1 BUILD — Prepare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463040" cy="73152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Knowledge Base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data/diabetes_q_a.txt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182880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77440" y="1554480"/>
            <a:ext cx="1554480" cy="73152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document_loader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Parse files from Q&amp;A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31920" y="182880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1554480" cy="73152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text_splitter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Split text into chunks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600" y="182880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1554480" cy="73152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embedding_model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MiniLM multilingual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55279" y="1554480"/>
            <a:ext cx="365761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7955279" y="2103120"/>
            <a:ext cx="365761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0" y="1325880"/>
            <a:ext cx="1280160" cy="54864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vector_store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FAISS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965960"/>
            <a:ext cx="1280160" cy="54864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build_bm25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hybrid_retriever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92640" y="182880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49840" y="1554480"/>
            <a:ext cx="1554480" cy="731520"/>
          </a:xfrm>
          <a:prstGeom prst="roundRect">
            <a:avLst/>
          </a:prstGeom>
          <a:solidFill>
            <a:srgbClr val="FAF5FF"/>
          </a:solidFill>
          <a:ln w="317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vector_db/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document.index</a:t>
            </a:r>
            <a:br/>
            <a:r>
              <a:t>bm25_index.pkl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017520"/>
            <a:ext cx="11612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2 QUERY — Answer questions (Input → Retrieval → Context → LLM → Output)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91840"/>
            <a:ext cx="1371600" cy="822960"/>
          </a:xfrm>
          <a:prstGeom prst="roundRect">
            <a:avLst/>
          </a:prstGeom>
          <a:solidFill>
            <a:srgbClr val="F0FDF4"/>
          </a:solidFill>
          <a:ln w="317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[INPUT]</a:t>
            </a:r>
            <a:br/>
            <a:r>
              <a:t>User Question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User asks a question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828800" y="365760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286000" y="3291840"/>
            <a:ext cx="1554480" cy="822960"/>
          </a:xfrm>
          <a:prstGeom prst="roundRect">
            <a:avLst/>
          </a:prstGeom>
          <a:solidFill>
            <a:srgbClr val="F0FDF4"/>
          </a:solidFill>
          <a:ln w="31750">
            <a:solidFill>
              <a:srgbClr val="4ADE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query_transform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Rewrite, multi, HyDE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840480" y="365760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97680" y="3291840"/>
            <a:ext cx="1737360" cy="822960"/>
          </a:xfrm>
          <a:prstGeom prst="roundRect">
            <a:avLst/>
          </a:prstGeom>
          <a:solidFill>
            <a:srgbClr val="FFF7ED"/>
          </a:solidFill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[RETRIEVAL]</a:t>
            </a:r>
            <a:br/>
            <a:r>
              <a:t>hybrid_retriever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BM25 + dense → RRF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35040" y="365760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92240" y="3291840"/>
            <a:ext cx="1828800" cy="822960"/>
          </a:xfrm>
          <a:prstGeom prst="roundRect">
            <a:avLst/>
          </a:prstGeom>
          <a:solidFill>
            <a:srgbClr val="FFF7ED"/>
          </a:solidFill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[CONTEXT]</a:t>
            </a:r>
            <a:br/>
            <a:r>
              <a:t>prompt_templates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Combine chunks &amp;</a:t>
            </a:r>
            <a:br/>
            <a:r>
              <a:t>Conversation Memory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321040" y="365760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778240" y="3291840"/>
            <a:ext cx="1645920" cy="822960"/>
          </a:xfrm>
          <a:prstGeom prst="roundRect">
            <a:avLst/>
          </a:prstGeom>
          <a:solidFill>
            <a:srgbClr val="FFF7ED"/>
          </a:solidFill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[LLM]</a:t>
            </a:r>
            <a:br/>
            <a:r>
              <a:t>generator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OpenAI / Ollama / Gemini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424160" y="3657600"/>
            <a:ext cx="27432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789920" y="3291840"/>
            <a:ext cx="914400" cy="822960"/>
          </a:xfrm>
          <a:prstGeom prst="roundRect">
            <a:avLst/>
          </a:prstGeom>
          <a:solidFill>
            <a:srgbClr val="F0FDF4"/>
          </a:solidFill>
          <a:ln w="317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rPr sz="1200" dirty="0"/>
              <a:t>[OUTPUT]</a:t>
            </a:r>
            <a:br>
              <a:rPr dirty="0"/>
            </a:br>
            <a:r>
              <a:rPr dirty="0"/>
              <a:t>Answer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rPr dirty="0"/>
              <a:t>Response + citations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029200"/>
            <a:ext cx="11612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4846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3 EVALUATION — Measure and improve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03520"/>
            <a:ext cx="1463040" cy="731520"/>
          </a:xfrm>
          <a:prstGeom prst="roundRect">
            <a:avLst/>
          </a:prstGeom>
          <a:solidFill>
            <a:srgbClr val="FAF5FF"/>
          </a:solidFill>
          <a:ln w="317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golden_set.json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60 questions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920240" y="566928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377440" y="5303520"/>
            <a:ext cx="1645920" cy="73152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eval_retrieval.py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Hit@k, MRR, nDCG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023360" y="566928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480560" y="5303520"/>
            <a:ext cx="1828800" cy="731520"/>
          </a:xfrm>
          <a:prstGeom prst="roundRect">
            <a:avLst/>
          </a:prstGeom>
          <a:solidFill>
            <a:srgbClr val="FAF5FF"/>
          </a:solidFill>
          <a:ln w="317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Retrieval Report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outputs/eval_retrieval.json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5303520"/>
            <a:ext cx="1828800" cy="73152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eval_generation.py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faithfulness, correctness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595360" y="5669280"/>
            <a:ext cx="365760" cy="182880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052560" y="5303520"/>
            <a:ext cx="1920240" cy="731520"/>
          </a:xfrm>
          <a:prstGeom prst="roundRect">
            <a:avLst/>
          </a:prstGeom>
          <a:solidFill>
            <a:srgbClr val="FAF5FF"/>
          </a:solidFill>
          <a:ln w="317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Generation Report</a:t>
            </a:r>
          </a:p>
          <a:p>
            <a:pPr algn="ctr">
              <a:defRPr sz="1000" b="0">
                <a:solidFill>
                  <a:srgbClr val="5A5A5A"/>
                </a:solidFill>
              </a:defRPr>
            </a:pPr>
            <a:r>
              <a:t>outputs/eval_generation.json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7317"/>
            <a:ext cx="8229600" cy="1143000"/>
          </a:xfrm>
        </p:spPr>
        <p:txBody>
          <a:bodyPr/>
          <a:lstStyle/>
          <a:p>
            <a:r>
              <a:rPr dirty="0"/>
              <a:t>RAG System Workflow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 wrap="square">
            <a:noAutofit/>
          </a:bodyPr>
          <a:lstStyle/>
          <a:p>
            <a:r>
              <a:rPr sz="1500" b="0" i="0" dirty="0">
                <a:latin typeface="Calibri"/>
              </a:rPr>
              <a:t>1. Input</a:t>
            </a:r>
          </a:p>
          <a:p>
            <a:pPr lvl="1"/>
            <a:r>
              <a:rPr sz="1500" b="0" i="0" dirty="0">
                <a:latin typeface="Calibri"/>
              </a:rPr>
              <a:t>User submits a question via the terminal (main.py).</a:t>
            </a:r>
          </a:p>
          <a:p>
            <a:pPr lvl="1"/>
            <a:r>
              <a:rPr sz="1500" b="0" i="0" dirty="0">
                <a:latin typeface="Calibri"/>
              </a:rPr>
              <a:t>The </a:t>
            </a:r>
            <a:r>
              <a:rPr sz="1500" b="0" i="0" dirty="0" err="1">
                <a:latin typeface="Calibri"/>
              </a:rPr>
              <a:t>query_transform</a:t>
            </a:r>
            <a:r>
              <a:rPr sz="1500" b="0" i="0" dirty="0">
                <a:latin typeface="Calibri"/>
              </a:rPr>
              <a:t> module replaces slang and optionally rewrites the query using an LLM.</a:t>
            </a:r>
          </a:p>
          <a:p>
            <a:r>
              <a:rPr sz="1500" b="0" i="0" dirty="0">
                <a:latin typeface="Calibri"/>
              </a:rPr>
              <a:t>2. Retrieval</a:t>
            </a:r>
          </a:p>
          <a:p>
            <a:pPr lvl="1"/>
            <a:r>
              <a:rPr sz="1500" b="0" i="0" dirty="0" err="1">
                <a:latin typeface="Calibri"/>
              </a:rPr>
              <a:t>hybrid_retriever</a:t>
            </a:r>
            <a:r>
              <a:rPr sz="1500" b="0" i="0" dirty="0">
                <a:latin typeface="Calibri"/>
              </a:rPr>
              <a:t> searches the knowledge base using FAISS (dense vectors) and BM25 (keyword matching).</a:t>
            </a:r>
          </a:p>
          <a:p>
            <a:pPr lvl="1"/>
            <a:r>
              <a:rPr sz="1500" b="0" i="0" dirty="0">
                <a:latin typeface="Calibri"/>
              </a:rPr>
              <a:t>Results are fused together via Reciprocal Rank Fusion (RRF) to isolate the top 3 relevant chunks.</a:t>
            </a:r>
          </a:p>
          <a:p>
            <a:r>
              <a:rPr sz="1500" b="0" i="0" dirty="0">
                <a:latin typeface="Calibri"/>
              </a:rPr>
              <a:t>3. Context</a:t>
            </a:r>
          </a:p>
          <a:p>
            <a:pPr lvl="1"/>
            <a:r>
              <a:rPr sz="1500" b="0" i="0" dirty="0" err="1">
                <a:latin typeface="Calibri"/>
              </a:rPr>
              <a:t>prompt_templates</a:t>
            </a:r>
            <a:r>
              <a:rPr sz="1500" b="0" i="0" dirty="0">
                <a:latin typeface="Calibri"/>
              </a:rPr>
              <a:t> structures the retrieved chunks into a numbered context block (e.g., [1], [2]).</a:t>
            </a:r>
          </a:p>
          <a:p>
            <a:pPr lvl="1"/>
            <a:r>
              <a:rPr sz="1500" b="0" i="0" dirty="0">
                <a:latin typeface="Calibri"/>
              </a:rPr>
              <a:t>The context is seamlessly merged with the user's question and conversation memory.</a:t>
            </a:r>
          </a:p>
          <a:p>
            <a:r>
              <a:rPr sz="1500" b="0" i="0" dirty="0">
                <a:latin typeface="Calibri"/>
              </a:rPr>
              <a:t>4. LLM</a:t>
            </a:r>
          </a:p>
          <a:p>
            <a:pPr lvl="1"/>
            <a:r>
              <a:rPr sz="1500" b="0" i="0" dirty="0">
                <a:latin typeface="Calibri"/>
              </a:rPr>
              <a:t>The generator transmits the context-enriched prompt to the LLM via the OpenAI python client.</a:t>
            </a:r>
          </a:p>
          <a:p>
            <a:pPr lvl="1"/>
            <a:r>
              <a:rPr sz="1500" b="0" i="0" dirty="0">
                <a:latin typeface="Calibri"/>
              </a:rPr>
              <a:t>The LLM is strictly instructed to answer using only the provided context and inject source citations.</a:t>
            </a:r>
          </a:p>
          <a:p>
            <a:r>
              <a:rPr sz="1500" b="0" i="0" dirty="0">
                <a:latin typeface="Calibri"/>
              </a:rPr>
              <a:t>5. Output</a:t>
            </a:r>
          </a:p>
          <a:p>
            <a:pPr lvl="1"/>
            <a:r>
              <a:rPr sz="1500" b="0" i="0" dirty="0">
                <a:latin typeface="Calibri"/>
              </a:rPr>
              <a:t>The generated answer is parsed, and a mandatory medical disclaimer is appended.</a:t>
            </a:r>
          </a:p>
          <a:p>
            <a:pPr lvl="1"/>
            <a:r>
              <a:rPr sz="1500" b="0" i="0" dirty="0">
                <a:latin typeface="Calibri"/>
              </a:rPr>
              <a:t>The final response is displayed to the user and recorded into the conversation memory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375</Words>
  <Application>Microsoft Office PowerPoint</Application>
  <PresentationFormat>แบบจอกว้าง</PresentationFormat>
  <Paragraphs>56</Paragraphs>
  <Slides>2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RAG System Workflow</vt:lpstr>
      <vt:lpstr>RAG System Workflow Explanation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Jirapa KM</cp:lastModifiedBy>
  <cp:revision>3</cp:revision>
  <dcterms:created xsi:type="dcterms:W3CDTF">2013-01-27T09:14:16Z</dcterms:created>
  <dcterms:modified xsi:type="dcterms:W3CDTF">2026-08-18T17:52:31Z</dcterms:modified>
  <cp:category/>
</cp:coreProperties>
</file>